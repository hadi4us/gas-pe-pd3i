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097280"/>
            <a:ext cx="4572000" cy="4572000"/>
          </a:xfrm>
          <a:prstGeom prst="arc">
            <a:avLst/>
          </a:prstGeom>
          <a:noFill/>
          <a:ln w="12700">
            <a:solidFill>
              <a:srgbClr val="13A6A6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3474720"/>
            <a:ext cx="3657600" cy="3657600"/>
          </a:xfrm>
          <a:prstGeom prst="arc">
            <a:avLst/>
          </a:prstGeom>
          <a:noFill/>
          <a:ln w="12700">
            <a:solidFill>
              <a:srgbClr val="F4B942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SIMPEL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Surveilans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EF0"/>
                </a:solidFill>
              </a:rPr>
              <a:t>Sosialisasi untuk Fasilitas Pelayanan Kesehatan Klinik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983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942"/>
                </a:solidFill>
              </a:rPr>
              <a:t>Laporan cepat  •  Data lengkap  •  Tindak lanjut tepat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6080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D5"/>
                </a:solidFill>
              </a:rPr>
              <a:t>Kota Depok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3A6A6"/>
                </a:solidFill>
              </a:rPr>
              <a:t>01 | ARAH KEGIATAN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</a:rPr>
              <a:t>Tujuan Sosialisasi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3A0"/>
                </a:solidFill>
              </a:rPr>
              <a:t>SIMPEL Surveilans  |  Klinik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90472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4173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Memahami peran klinik dalam surveilans penyakit berpotensi KLB.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8424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Mampu menginput laporan awal secara lengkap dan benar.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624328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551176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Memahami alur Nomor EPID, verifikasi, pemeriksaan, dan tindak lanjut.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191256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11810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Menjaga keamanan akun serta kerahasiaan data pasien.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3A6A6"/>
                </a:solidFill>
              </a:rPr>
              <a:t>02 | PERAN KLINIK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</a:rPr>
              <a:t>Mengapa Klinik Penting?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3A0"/>
                </a:solidFill>
              </a:rPr>
              <a:t>SIMPEL Surveilans  |  Klinik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E8F6F4"/>
          </a:solidFill>
          <a:ln w="12700">
            <a:solidFill>
              <a:srgbClr val="E8F6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276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Deteksi awal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029968"/>
            <a:ext cx="2843784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Klinik sering menjadi titik pertama pasien mencari pertolongan.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46304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6276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Data terpercaya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53128" y="2029968"/>
            <a:ext cx="2843784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Data klinis dan epidemiologis yang lengkap mempercepat verifikasi.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1463040"/>
            <a:ext cx="3246120" cy="2194560"/>
          </a:xfrm>
          <a:prstGeom prst="roundRect">
            <a:avLst>
              <a:gd name="adj" fmla="val 3333"/>
            </a:avLst>
          </a:prstGeom>
          <a:solidFill>
            <a:srgbClr val="FFF5DD"/>
          </a:solidFill>
          <a:ln w="12700">
            <a:solidFill>
              <a:srgbClr val="FFF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73568" y="16276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Respons cepat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73568" y="2029968"/>
            <a:ext cx="2843784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Laporan tepat waktu membantu petugas menentukan tindak lanjut.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663440"/>
            <a:ext cx="987552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04A"/>
                </a:solidFill>
              </a:rPr>
              <a:t>SIMPEL Surveilans melengkapi rekam medis klinik. Aplikasi ini digunakan untuk pelaporan dan surveilans program.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3A6A6"/>
                </a:solidFill>
              </a:rPr>
              <a:t>03 |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</a:rPr>
              <a:t>Alur Kerja Utama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3A0"/>
                </a:solidFill>
              </a:rPr>
              <a:t>SIMPEL Surveilans  |  Klinik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12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040"/>
                </a:solidFill>
              </a:rPr>
              <a:t>Login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286000"/>
            <a:ext cx="1143000" cy="0"/>
          </a:xfrm>
          <a:prstGeom prst="line">
            <a:avLst/>
          </a:prstGeom>
          <a:noFill/>
          <a:ln w="12700">
            <a:solidFill>
              <a:srgbClr val="A9BCC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60320" y="1965960"/>
            <a:ext cx="640080" cy="640080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112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834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040"/>
                </a:solidFill>
              </a:rPr>
              <a:t>Input kasus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286000"/>
            <a:ext cx="1143000" cy="0"/>
          </a:xfrm>
          <a:prstGeom prst="line">
            <a:avLst/>
          </a:prstGeom>
          <a:noFill/>
          <a:ln w="12700">
            <a:solidFill>
              <a:srgbClr val="A9BCC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34840" y="1965960"/>
            <a:ext cx="640080" cy="640080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2112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2834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040"/>
                </a:solidFill>
              </a:rPr>
              <a:t>Simpan laporan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20640" y="2286000"/>
            <a:ext cx="1143000" cy="0"/>
          </a:xfrm>
          <a:prstGeom prst="line">
            <a:avLst/>
          </a:prstGeom>
          <a:noFill/>
          <a:ln w="12700">
            <a:solidFill>
              <a:srgbClr val="A9BCC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9360" y="1965960"/>
            <a:ext cx="640080" cy="640080"/>
          </a:xfrm>
          <a:prstGeom prst="ellipse">
            <a:avLst/>
          </a:prstGeom>
          <a:solidFill>
            <a:srgbClr val="12304A"/>
          </a:solidFill>
          <a:ln w="12700">
            <a:solidFill>
              <a:srgbClr val="123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112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89320" y="2834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040"/>
                </a:solidFill>
              </a:rPr>
              <a:t>Verifikasi EPID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95160" y="2286000"/>
            <a:ext cx="1143000" cy="0"/>
          </a:xfrm>
          <a:prstGeom prst="line">
            <a:avLst/>
          </a:prstGeom>
          <a:noFill/>
          <a:ln w="12700">
            <a:solidFill>
              <a:srgbClr val="A9BCC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83880" y="1965960"/>
            <a:ext cx="640080" cy="640080"/>
          </a:xfrm>
          <a:prstGeom prst="ellipse">
            <a:avLst/>
          </a:prstGeom>
          <a:solidFill>
            <a:srgbClr val="12304A"/>
          </a:solidFill>
          <a:ln w="12700">
            <a:solidFill>
              <a:srgbClr val="123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112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63840" y="2834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040"/>
                </a:solidFill>
              </a:rPr>
              <a:t>Pemeriksaan / spesimen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869680" y="2286000"/>
            <a:ext cx="1143000" cy="0"/>
          </a:xfrm>
          <a:prstGeom prst="line">
            <a:avLst/>
          </a:prstGeom>
          <a:noFill/>
          <a:ln w="12700">
            <a:solidFill>
              <a:srgbClr val="A9BCC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58400" y="1965960"/>
            <a:ext cx="640080" cy="640080"/>
          </a:xfrm>
          <a:prstGeom prst="ellipse">
            <a:avLst/>
          </a:prstGeom>
          <a:solidFill>
            <a:srgbClr val="12304A"/>
          </a:solidFill>
          <a:ln w="12700">
            <a:solidFill>
              <a:srgbClr val="123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2112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38360" y="2834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040"/>
                </a:solidFill>
              </a:rPr>
              <a:t>Pemantauan status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800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D5D"/>
                </a:solidFill>
              </a:rPr>
              <a:t>Nomor EPID ditetapkan melalui proses verifikasi. Jangan mengisi atau mengubahnya secara manual.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3A6A6"/>
                </a:solidFill>
              </a:rPr>
              <a:t>04 | PERSIAPAN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</a:rPr>
              <a:t>Sebelum Input Kasus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3A0"/>
                </a:solidFill>
              </a:rPr>
              <a:t>SIMPEL Surveilans  |  Klinik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90472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4173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Siapkan identitas pasien dari sumber resmi klinik.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8424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Pastikan NIK, nama, jenis kelamin, tanggal lahir, dan alamat benar.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624328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551176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Siapkan tanggal laporan diterima, tanggal pelacakan, serta data petugas.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191256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11810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Siapkan data gejala, pemeriksaan, dan spesimen bila tersedia.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3758184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68503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Gunakan data simulasi saat pelatihan — bukan data pasien nyata.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3A6A6"/>
                </a:solidFill>
              </a:rPr>
              <a:t>05 | PRAKTIK INTI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</a:rPr>
              <a:t>Input Kasus dengan Benar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3A0"/>
                </a:solidFill>
              </a:rPr>
              <a:t>SIMPEL Surveilans  |  Klinik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E8F6F4"/>
          </a:solidFill>
          <a:ln w="12700">
            <a:solidFill>
              <a:srgbClr val="E8F6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9047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Isi berdasarkan bukti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1892808"/>
            <a:ext cx="4764024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Pilih diagnosis/formulir yang sesuai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Isi tanggal dengan tepat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Jawab sesuai anamnesis atau pemeriksaan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Jangan mengisi data dengan perkiraan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Periksa unit pelapor dan wilayah pasien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49047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Sebelum klik Simpan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73368" y="1892808"/>
            <a:ext cx="4764024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Baca ringkasan validasi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Lengkapi field wajib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Klik Simpan satu kali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Tunggu notifikasi berhasil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Catat identitas kasus bila tampil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3A6A6"/>
                </a:solidFill>
              </a:rPr>
              <a:t>06 | TAHAP SETELAH LAPORAN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</a:rPr>
              <a:t>Verifikasi EPID dan Tindak Lanjut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3A0"/>
                </a:solidFill>
              </a:rPr>
              <a:t>SIMPEL Surveilans  |  Klinik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90472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4173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Laporan awal masuk ke antrean verifikasi admin.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8424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Klinik dapat diminta melengkapi atau mengklarifikasi data.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624328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551176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Setelah terverifikasi, tahap pemeriksaan atau pemantauan tersedia sesuai hak akses.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191256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11810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Jika ada kesalahan, gunakan alur perbaikan — jangan membuat kasus baru.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3A6A6"/>
                </a:solidFill>
              </a:rPr>
              <a:t>07 | AKURASI HASIL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</a:rPr>
              <a:t>Data Pemeriksaan dan Spesimen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3A0"/>
                </a:solidFill>
              </a:rPr>
              <a:t>SIMPEL Surveilans  |  Klinik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90472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4173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Pastikan Nomor EPID sesuai kasus.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8424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Isi jenis spesimen, waktu pengambilan, nomor sampel, dan tanggal pengiriman sesuai dokumen.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624328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551176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Jangan menebak hasil pemeriksaan.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191256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11810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Jika hasil belum tersedia, gunakan status yang sesuai.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3758184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68503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Simpan dokumen pendukung mengikuti SOP klinik.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3A6A6"/>
                </a:solidFill>
              </a:rPr>
              <a:t>08 | WAJIB DIJAGA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</a:rPr>
              <a:t>Keamanan Data Pasien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3A0"/>
                </a:solidFill>
              </a:rPr>
              <a:t>SIMPEL Surveilans  |  Klinik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E8F6F4"/>
          </a:solidFill>
          <a:ln w="12700">
            <a:solidFill>
              <a:srgbClr val="E8F6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3619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Lakukan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1938528"/>
            <a:ext cx="4764024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Gunakan akun resmi dan akses sesuai role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Simpan OTP/password dengan aman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Logout dari perangkat bersama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Laporkan akses mencurigakan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Gunakan data hanya untuk tugas resmi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53619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Hindari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73368" y="1938528"/>
            <a:ext cx="4764024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Membagikan OTP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Mengirim screenshot ke grup umum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Mengunduh data tanpa kebutuhan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Membuat laporan ganda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3040"/>
                </a:solidFill>
              </a:rPr>
              <a:t>• Mengubah status tanpa kewenangan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3A6A6"/>
                </a:solidFill>
              </a:rPr>
              <a:t>09 | DUKUNGAN OPERASIONAL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</a:rPr>
              <a:t>Masalah Umum dan Solusi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3A0"/>
                </a:solidFill>
              </a:rPr>
              <a:t>SIMPEL Surveilans  |  Klinik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2926080" cy="566928"/>
          </a:xfrm>
          <a:prstGeom prst="roundRect">
            <a:avLst>
              <a:gd name="adj" fmla="val 8065"/>
            </a:avLst>
          </a:prstGeom>
          <a:solidFill>
            <a:srgbClr val="E8F6F4"/>
          </a:solidFill>
          <a:ln w="12700">
            <a:solidFill>
              <a:srgbClr val="E8F6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3990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4A"/>
                </a:solidFill>
              </a:rPr>
              <a:t>Tidak bisa 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77640" y="139903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040"/>
                </a:solidFill>
              </a:rPr>
              <a:t>Cek email, OTP, koneksi, dan status akun.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2926080" cy="566928"/>
          </a:xfrm>
          <a:prstGeom prst="roundRect">
            <a:avLst>
              <a:gd name="adj" fmla="val 8065"/>
            </a:avLst>
          </a:prstGeom>
          <a:solidFill>
            <a:srgbClr val="E8F6F4"/>
          </a:solidFill>
          <a:ln w="12700">
            <a:solidFill>
              <a:srgbClr val="E8F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677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4A"/>
                </a:solidFill>
              </a:rPr>
              <a:t>Nomor EPID belum 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77640" y="226771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040"/>
                </a:solidFill>
              </a:rPr>
              <a:t>Normal pada laporan awal; tunggu verifikasi.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2926080" cy="566928"/>
          </a:xfrm>
          <a:prstGeom prst="roundRect">
            <a:avLst>
              <a:gd name="adj" fmla="val 8065"/>
            </a:avLst>
          </a:prstGeom>
          <a:solidFill>
            <a:srgbClr val="E8F6F4"/>
          </a:solidFill>
          <a:ln w="12700">
            <a:solidFill>
              <a:srgbClr val="E8F6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363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4A"/>
                </a:solidFill>
              </a:rPr>
              <a:t>Kasus sudah pernah dilaporkan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313639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040"/>
                </a:solidFill>
              </a:rPr>
              <a:t>Cari kasus yang ada; jangan buat duplikat.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840480"/>
            <a:ext cx="2926080" cy="566928"/>
          </a:xfrm>
          <a:prstGeom prst="roundRect">
            <a:avLst>
              <a:gd name="adj" fmla="val 8065"/>
            </a:avLst>
          </a:prstGeom>
          <a:solidFill>
            <a:srgbClr val="E8F6F4"/>
          </a:solidFill>
          <a:ln w="12700">
            <a:solidFill>
              <a:srgbClr val="E8F6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0050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4A"/>
                </a:solidFill>
              </a:rPr>
              <a:t>Simpan tidak merespons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77640" y="400507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040"/>
                </a:solidFill>
              </a:rPr>
              <a:t>Cek validasi dan jangan klik berulang.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4709160"/>
            <a:ext cx="2926080" cy="566928"/>
          </a:xfrm>
          <a:prstGeom prst="roundRect">
            <a:avLst>
              <a:gd name="adj" fmla="val 8065"/>
            </a:avLst>
          </a:prstGeom>
          <a:solidFill>
            <a:srgbClr val="E8F6F4"/>
          </a:solidFill>
          <a:ln w="12700">
            <a:solidFill>
              <a:srgbClr val="E8F6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8737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4A"/>
                </a:solidFill>
              </a:rPr>
              <a:t>Menu tidak tersedia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77640" y="487375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040"/>
                </a:solidFill>
              </a:rPr>
              <a:t>Periksa role dan tahap workflow; hubungi admin.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3A6A6"/>
                </a:solidFill>
              </a:rPr>
              <a:t>10 | LATIHAN PESERTA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</a:rPr>
              <a:t>Simulasi Praktik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3A0"/>
                </a:solidFill>
              </a:rPr>
              <a:t>SIMPEL Surveilans  |  Klinik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90472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4173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Gunakan satu skenario dan data pasien simulasi.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8424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Pilih formulir diagnosis yang sesuai.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624328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551176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Isi identitas, sumber laporan, gejala, dan tanggal penting.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191256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11810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Simpan satu kali lalu temukan laporan pada daftar/antrean.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3758184"/>
            <a:ext cx="109728" cy="109728"/>
          </a:xfrm>
          <a:prstGeom prst="ellipse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68503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Jelaskan perbedaan laporan awal dan kasus terverifikasi.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3A6A6"/>
                </a:solidFill>
              </a:rPr>
              <a:t>11 | SIAP DIGUNAKAN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</a:rPr>
              <a:t>Checklist Klinik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3A0"/>
                </a:solidFill>
              </a:rPr>
              <a:t>SIMPEL Surveilans  |  Klinik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1280160"/>
            <a:ext cx="4754880" cy="658368"/>
          </a:xfrm>
          <a:prstGeom prst="roundRect">
            <a:avLst>
              <a:gd name="adj" fmla="val 6944"/>
            </a:avLst>
          </a:prstGeom>
          <a:solidFill>
            <a:srgbClr val="E8F6F4"/>
          </a:solidFill>
          <a:ln w="12700">
            <a:solidFill>
              <a:srgbClr val="E8F6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904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✓  Akun klinik aktif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280160"/>
            <a:ext cx="4754880" cy="658368"/>
          </a:xfrm>
          <a:prstGeom prst="roundRect">
            <a:avLst>
              <a:gd name="adj" fmla="val 6944"/>
            </a:avLst>
          </a:prstGeom>
          <a:solidFill>
            <a:srgbClr val="E8F6F4"/>
          </a:solidFill>
          <a:ln w="12700">
            <a:solidFill>
              <a:srgbClr val="E8F6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4904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✓  Petugas memahami kewenangan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475488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54203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✓  Data pasien berasal dari sumber resmi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2331720"/>
            <a:ext cx="475488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54203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✓  Diagnosis dan unit pelapor benar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383280"/>
            <a:ext cx="4754880" cy="658368"/>
          </a:xfrm>
          <a:prstGeom prst="roundRect">
            <a:avLst>
              <a:gd name="adj" fmla="val 6944"/>
            </a:avLst>
          </a:prstGeom>
          <a:solidFill>
            <a:srgbClr val="E8F6F4"/>
          </a:solidFill>
          <a:ln w="12700">
            <a:solidFill>
              <a:srgbClr val="E8F6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5935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✓  Tanggal dan wilayah sudah diperiksa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3383280"/>
            <a:ext cx="4754880" cy="658368"/>
          </a:xfrm>
          <a:prstGeom prst="roundRect">
            <a:avLst>
              <a:gd name="adj" fmla="val 6944"/>
            </a:avLst>
          </a:prstGeom>
          <a:solidFill>
            <a:srgbClr val="E8F6F4"/>
          </a:solidFill>
          <a:ln w="12700">
            <a:solidFill>
              <a:srgbClr val="E8F6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5935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✓  Notifikasi simpan berhasil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4434840"/>
            <a:ext cx="475488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64515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✓  Tindak lanjut dipantau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26480" y="4434840"/>
            <a:ext cx="475488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464515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</a:rPr>
              <a:t>✓  Kerahasiaan data dijaga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Terima kasih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9EEF0"/>
                </a:solidFill>
              </a:rPr>
              <a:t>Bersama memperkuat surveilans kesehatan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D9EEF0"/>
                </a:solidFill>
              </a:rPr>
              <a:t>di Kota Depok.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77240" y="4892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</a:rPr>
              <a:t>Laporan cepat  •  Data lengkap  •  Tindak lanjut tepat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5989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BD5"/>
                </a:solidFill>
              </a:rPr>
              <a:t>Kontak bantuan: Admin SIMPEL Surveilans / Petugas Surveilans Dinas Kesehatan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Dinas Kesehatan Kota Depok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SIMPEL Surveilans — Sosialisasi Faskes Klinik</dc:title>
  <dc:subject>Sosialisasi untuk Faskes Klinik</dc:subject>
  <dc:creator>SIMPEL Surveilans</dc:creator>
  <cp:lastModifiedBy>SIMPEL Surveilans</cp:lastModifiedBy>
  <cp:revision>1</cp:revision>
  <dcterms:created xsi:type="dcterms:W3CDTF">2026-08-04T14:39:23Z</dcterms:created>
  <dcterms:modified xsi:type="dcterms:W3CDTF">2026-08-04T14:39:23Z</dcterms:modified>
</cp:coreProperties>
</file>